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301" r:id="rId14"/>
    <p:sldId id="296" r:id="rId15"/>
    <p:sldId id="268" r:id="rId16"/>
    <p:sldId id="269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5" autoAdjust="0"/>
    <p:restoredTop sz="94660"/>
  </p:normalViewPr>
  <p:slideViewPr>
    <p:cSldViewPr>
      <p:cViewPr varScale="1">
        <p:scale>
          <a:sx n="69" d="100"/>
          <a:sy n="69" d="100"/>
        </p:scale>
        <p:origin x="164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91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65624" y="1197215"/>
            <a:ext cx="7467599" cy="10125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0000" y="2226436"/>
            <a:ext cx="8800000" cy="3647132"/>
          </a:xfrm>
          <a:prstGeom prst="rect">
            <a:avLst/>
          </a:prstGeom>
        </p:spPr>
        <p:txBody>
          <a:bodyPr wrap="square" lIns="120000" tIns="80000" rIns="120000" bIns="8000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lang="en-IN" sz="2600" b="1" dirty="0">
                <a:solidFill>
                  <a:srgbClr val="1F3B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7:</a:t>
            </a:r>
            <a:endParaRPr lang="en-IN" sz="2600" dirty="0"/>
          </a:p>
          <a:p>
            <a:pPr algn="ctr">
              <a:spcAft>
                <a:spcPts val="100"/>
              </a:spcAft>
            </a:pPr>
            <a:r>
              <a:rPr lang="en-IN" sz="2500" b="1" dirty="0">
                <a:solidFill>
                  <a:srgbClr val="C55A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Management System</a:t>
            </a:r>
            <a:endParaRPr lang="en-IN" sz="2500" dirty="0"/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>
              <a:spcAft>
                <a:spcPts val="100"/>
              </a:spcAft>
            </a:pPr>
            <a:endParaRPr lang="en-IN" sz="21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Sri Chandana – 25B11AI129</a:t>
            </a:r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 . L.S. Sruthi – 25B11AI209</a:t>
            </a:r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CH. Akshith – 25B11AI019</a:t>
            </a:r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Praveen – 25B11AIC71 </a:t>
            </a:r>
          </a:p>
          <a:p>
            <a:pPr algn="ctr">
              <a:spcAft>
                <a:spcPts val="100"/>
              </a:spcAft>
            </a:pPr>
            <a:endParaRPr lang="en-IN" sz="2100" dirty="0"/>
          </a:p>
          <a:p>
            <a:pPr algn="ctr">
              <a:spcAft>
                <a:spcPts val="100"/>
              </a:spcAft>
            </a:pPr>
            <a:r>
              <a:rPr lang="en-IN" sz="21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Machine Learning</a:t>
            </a:r>
            <a:endParaRPr lang="en-I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0B4BFEB-CA8C-0F03-F096-CC4D073BB5A0}"/>
              </a:ext>
            </a:extLst>
          </p:cNvPr>
          <p:cNvSpPr txBox="1"/>
          <p:nvPr/>
        </p:nvSpPr>
        <p:spPr>
          <a:xfrm>
            <a:off x="700000" y="1497893"/>
            <a:ext cx="4024400" cy="61337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title, objectives &amp; problem statement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entities &amp; attributes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ER diagram &amp; relationships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relational database schema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Primary &amp; Foreign Keys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GitHub repo &amp; responsibilities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&amp; constraints</a:t>
            </a:r>
          </a:p>
          <a:p>
            <a:pPr marL="389890" indent="-377190">
              <a:spcBef>
                <a:spcPts val="2060"/>
              </a:spcBef>
              <a:buFontTx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sample data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20">
            <a:extLst>
              <a:ext uri="{FF2B5EF4-FFF2-40B4-BE49-F238E27FC236}">
                <a16:creationId xmlns:a16="http://schemas.microsoft.com/office/drawing/2014/main" id="{842F6819-E3C4-690E-6E62-8D09E4606A07}"/>
              </a:ext>
            </a:extLst>
          </p:cNvPr>
          <p:cNvSpPr txBox="1"/>
          <p:nvPr/>
        </p:nvSpPr>
        <p:spPr>
          <a:xfrm>
            <a:off x="5100000" y="1497892"/>
            <a:ext cx="4024400" cy="32098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&amp; SQL queries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 database</a:t>
            </a: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057400" y="138155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80E80D0-6F89-D49C-8F71-3B704975761E}"/>
              </a:ext>
            </a:extLst>
          </p:cNvPr>
          <p:cNvSpPr txBox="1"/>
          <p:nvPr/>
        </p:nvSpPr>
        <p:spPr>
          <a:xfrm>
            <a:off x="3846523" y="385970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C7188C-3C23-5302-E912-749D39759E53}"/>
              </a:ext>
            </a:extLst>
          </p:cNvPr>
          <p:cNvSpPr txBox="1"/>
          <p:nvPr/>
        </p:nvSpPr>
        <p:spPr>
          <a:xfrm>
            <a:off x="1083706" y="3865179"/>
            <a:ext cx="2423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1C64E-9947-A174-8900-5C6008F7954F}"/>
              </a:ext>
            </a:extLst>
          </p:cNvPr>
          <p:cNvSpPr txBox="1"/>
          <p:nvPr/>
        </p:nvSpPr>
        <p:spPr>
          <a:xfrm>
            <a:off x="709076" y="1269725"/>
            <a:ext cx="86402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Management System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en-IN"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software projects, teams, employees, tasks, sprints, and bugs manually can lead to </a:t>
            </a:r>
            <a:r>
              <a:rPr lang="en-IN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duplication, inconsistency, difficulty in tracking project progress, and difficulty in retrieving information</a:t>
            </a:r>
            <a:r>
              <a:rPr lang="en-IN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structured relational database to efficiently manage software project-related information.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  <a:endParaRPr lang="en-IN"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software project information.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employee and team details.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project teams and team members.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sprints and sprint goals.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record and track tasks assigned to employees.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bugs and their resolution details.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maintain relationships between different entities.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ensure data integrity using database constraints.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perform SQL operations for retrieving and managing project information.</a:t>
            </a: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ENTITIES &amp; ATTRIBUTES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67DD6-9FB5-A242-F5F1-17363B953107}"/>
              </a:ext>
            </a:extLst>
          </p:cNvPr>
          <p:cNvSpPr txBox="1"/>
          <p:nvPr/>
        </p:nvSpPr>
        <p:spPr>
          <a:xfrm>
            <a:off x="342900" y="983446"/>
            <a:ext cx="9372600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project_name,description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end_date,status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duration_days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technologies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last_name,designation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email,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skills,experience_years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salary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team_name,project_id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lead_id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team_size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sprint_name,project_id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end_date,goal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status, velocity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assigned_to,task_title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description,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priority,story_points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status,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due_date,completion_date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days_taken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Bug: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bug_id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reported_by,assigned_to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title,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severity,status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reported_date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resolved_date,resolution_time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700"/>
              </a:spcAft>
              <a:buNone/>
            </a:pPr>
            <a:endParaRPr lang="en-IN" sz="2400" b="1" dirty="0">
              <a:solidFill>
                <a:srgbClr val="2C5D8F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7A3C-9BEC-C61B-FC8D-3B949CD89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5F0E8CC-BDB8-7C3E-7C5E-012FD125295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DBC28A04-FC65-6F36-8766-2B93E376E2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6F9D794-31EA-8ABA-A5E3-D49E7DEF13C2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0767A3E-73A4-9967-916C-59851FE931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5C64E3F9-2AFD-ACC7-6183-250AF43BDF5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01E94C25-6779-8458-E95E-F4782347F2B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D4973351-D6E2-D3B8-C7AF-9344AB18D3A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DE1838-629A-37A8-DB28-E5CABD39B264}"/>
              </a:ext>
            </a:extLst>
          </p:cNvPr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E9D661-BEB0-53EC-3CFE-2E4EA1372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34336"/>
            <a:ext cx="9906000" cy="651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FF62A-28CD-1AF0-FCC9-9795D9913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A882BD3-FCF2-C56E-AAE2-C4D14D585E66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CC86148-DFF8-3451-7947-2685EE95BD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A4DF9EE2-487D-D75F-149C-A5A989F91BE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1618242D-8DDA-301B-EF8C-793435D7B31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669F432-648C-72A6-EE1E-52C40A5BB68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1D43B590-5504-6B74-CBB0-60480CB4BB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82876794-728A-676B-5B3B-0E4A8320CD7E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5FAEAFE-5DA8-E3CC-E08A-02ABAA5C5423}"/>
              </a:ext>
            </a:extLst>
          </p:cNvPr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3E7226-5DDB-951E-5B0D-70D879FA4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50" y="1215158"/>
            <a:ext cx="9462849" cy="5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17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D1103-BED3-D0D1-2B32-DF462A49A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86A48A0-7630-F33A-9602-55A8C30FABC0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4D87CA1E-4756-F08E-63BD-75124D6360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631FFF4E-3585-C131-4111-19552BFBD0ED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3462C3B-779A-ECC8-E6A0-EBE10897D9C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1C485986-3706-6533-B03D-5A8A8566ED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C06018CA-58C0-7E2C-3046-85D5E75FDF5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8EE4812-0FE8-8F6E-37C0-C1D8649E38B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996B418-1692-861F-B2FC-D97A6A0DCECA}"/>
              </a:ext>
            </a:extLst>
          </p:cNvPr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615E50-BDDC-5D07-77EE-072AD4C278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322610"/>
            <a:ext cx="10058400" cy="636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CE3830-FD62-2D6B-79CC-7FF9069A8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663468"/>
              </p:ext>
            </p:extLst>
          </p:nvPr>
        </p:nvGraphicFramePr>
        <p:xfrm>
          <a:off x="381000" y="2586407"/>
          <a:ext cx="8755773" cy="36089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1480">
                  <a:extLst>
                    <a:ext uri="{9D8B030D-6E8A-4147-A177-3AD203B41FA5}">
                      <a16:colId xmlns:a16="http://schemas.microsoft.com/office/drawing/2014/main" val="647044863"/>
                    </a:ext>
                  </a:extLst>
                </a:gridCol>
                <a:gridCol w="1952090">
                  <a:extLst>
                    <a:ext uri="{9D8B030D-6E8A-4147-A177-3AD203B41FA5}">
                      <a16:colId xmlns:a16="http://schemas.microsoft.com/office/drawing/2014/main" val="2954973252"/>
                    </a:ext>
                  </a:extLst>
                </a:gridCol>
                <a:gridCol w="2928135">
                  <a:extLst>
                    <a:ext uri="{9D8B030D-6E8A-4147-A177-3AD203B41FA5}">
                      <a16:colId xmlns:a16="http://schemas.microsoft.com/office/drawing/2014/main" val="2139136422"/>
                    </a:ext>
                  </a:extLst>
                </a:gridCol>
                <a:gridCol w="1464068">
                  <a:extLst>
                    <a:ext uri="{9D8B030D-6E8A-4147-A177-3AD203B41FA5}">
                      <a16:colId xmlns:a16="http://schemas.microsoft.com/office/drawing/2014/main" val="2955308836"/>
                    </a:ext>
                  </a:extLst>
                </a:gridCol>
              </a:tblGrid>
              <a:tr h="6520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Student Name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Roll Number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effectLst/>
                        </a:rPr>
                        <a:t>Role / Responsibility</a:t>
                      </a:r>
                      <a:endParaRPr lang="en-IN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Contribution Status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4277520147"/>
                  </a:ext>
                </a:extLst>
              </a:tr>
              <a:tr h="6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B.SRI CHANDANA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25B11AI129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Software Management System Database Design &amp; DDL Scripting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Completed (100%)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2348936172"/>
                  </a:ext>
                </a:extLst>
              </a:tr>
              <a:tr h="6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CH.L.S.SRUTHI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25B11AI209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DML Data Population &amp; Entity Record Management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Completed (100%)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1404586365"/>
                  </a:ext>
                </a:extLst>
              </a:tr>
              <a:tr h="6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CH.AKSHITH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25B11AI019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SQL Queries, Joins &amp; Subqueries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Completed (100%)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1406514967"/>
                  </a:ext>
                </a:extLst>
              </a:tr>
              <a:tr h="6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V.PRAVEEN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25B11AIC71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effectLst/>
                        </a:rPr>
                        <a:t>Views, Aggregations, Testing &amp; Query Analysis</a:t>
                      </a:r>
                      <a:endParaRPr lang="en-IN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Completed (100%)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3500" marR="63500" marT="50800" marB="50800" anchor="ctr"/>
                </a:tc>
                <a:extLst>
                  <a:ext uri="{0D108BD9-81ED-4DB2-BD59-A6C34878D82A}">
                    <a16:rowId xmlns:a16="http://schemas.microsoft.com/office/drawing/2014/main" val="263032394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B1DF246-9BD4-BD9A-AF3C-F6DF4C98F46D}"/>
              </a:ext>
            </a:extLst>
          </p:cNvPr>
          <p:cNvSpPr txBox="1"/>
          <p:nvPr/>
        </p:nvSpPr>
        <p:spPr>
          <a:xfrm>
            <a:off x="685800" y="1017098"/>
            <a:ext cx="5029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Name: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051FA6-9AF6-15F0-0926-903EE8EBD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750" y="1216578"/>
            <a:ext cx="9615250" cy="51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3AAC0-E9A5-1B9C-8CDA-5EF400C56A74}"/>
              </a:ext>
            </a:extLst>
          </p:cNvPr>
          <p:cNvSpPr txBox="1"/>
          <p:nvPr/>
        </p:nvSpPr>
        <p:spPr>
          <a:xfrm>
            <a:off x="420507" y="973627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records inserted into the EMPLOYEE  table</a:t>
            </a:r>
            <a:endParaRPr lang="en-IN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226588-C522-9162-CCA4-7945961ACD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367938"/>
            <a:ext cx="9067800" cy="194760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7C93C63-34E3-E49F-7BA9-D3EF7ACE4E6F}"/>
              </a:ext>
            </a:extLst>
          </p:cNvPr>
          <p:cNvSpPr txBox="1"/>
          <p:nvPr/>
        </p:nvSpPr>
        <p:spPr>
          <a:xfrm>
            <a:off x="286268" y="4012471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/>
              <a:t>Output</a:t>
            </a:r>
            <a:r>
              <a:rPr lang="en-IN" sz="1600"/>
              <a:t>: </a:t>
            </a:r>
            <a:endParaRPr lang="en-IN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FECD5D-F957-C76C-B8DA-BCF6A8E5EE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2674" y="3527798"/>
            <a:ext cx="3103554" cy="4001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BA1D26-5DD6-6295-89E8-9625FAE86F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4351025"/>
            <a:ext cx="9829800" cy="32970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091CB47-81F5-1936-2246-7F503F101E68}"/>
              </a:ext>
            </a:extLst>
          </p:cNvPr>
          <p:cNvSpPr txBox="1"/>
          <p:nvPr/>
        </p:nvSpPr>
        <p:spPr>
          <a:xfrm>
            <a:off x="286268" y="348609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Query</a:t>
            </a:r>
            <a:r>
              <a:rPr lang="en-IN" sz="20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5725" y="85356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C0AE8-26F4-FD72-E405-D79525AEFDB4}"/>
              </a:ext>
            </a:extLst>
          </p:cNvPr>
          <p:cNvSpPr txBox="1"/>
          <p:nvPr/>
        </p:nvSpPr>
        <p:spPr>
          <a:xfrm>
            <a:off x="533400" y="80068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 DDL ]: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9824F0F-B148-A140-CF58-8473B5936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13863"/>
            <a:ext cx="9067800" cy="19674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0C363E0-D81A-4836-30EF-7C2AC4A1AAEA}"/>
              </a:ext>
            </a:extLst>
          </p:cNvPr>
          <p:cNvSpPr txBox="1"/>
          <p:nvPr/>
        </p:nvSpPr>
        <p:spPr>
          <a:xfrm>
            <a:off x="386868" y="3204168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PROJECT [ DML ]: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13B324-8CF9-966B-D3CE-0418271A45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506" y="3640603"/>
            <a:ext cx="9094694" cy="157747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F17464-76B6-9573-C973-26EB3DA11A99}"/>
              </a:ext>
            </a:extLst>
          </p:cNvPr>
          <p:cNvSpPr txBox="1"/>
          <p:nvPr/>
        </p:nvSpPr>
        <p:spPr>
          <a:xfrm>
            <a:off x="533400" y="5326255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query for PROJECT [ DQL ]: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AB8735-2346-BA0F-1DE6-939F089418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834540"/>
            <a:ext cx="9296400" cy="1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577039" y="304071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8686A-697B-C9FD-2F76-A27CD55A6442}"/>
              </a:ext>
            </a:extLst>
          </p:cNvPr>
          <p:cNvSpPr txBox="1"/>
          <p:nvPr/>
        </p:nvSpPr>
        <p:spPr>
          <a:xfrm>
            <a:off x="533400" y="1009590"/>
            <a:ext cx="929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 were performed on the Customer table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 SELECT, UPDATE and DELETE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764F0F8-067F-18E6-C88E-B93087202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35" y="1621068"/>
            <a:ext cx="9296400" cy="157933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63F0A00-9CFA-B763-C43F-DDBD05977560}"/>
              </a:ext>
            </a:extLst>
          </p:cNvPr>
          <p:cNvSpPr txBox="1"/>
          <p:nvPr/>
        </p:nvSpPr>
        <p:spPr>
          <a:xfrm>
            <a:off x="468235" y="3280891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Output: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A4625CC-268C-1A68-8256-4FF6997E46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4220" y="3624738"/>
            <a:ext cx="9425580" cy="125206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7BC63EF-0C7E-2FEF-CA1D-072505847E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218" y="5105316"/>
            <a:ext cx="9425581" cy="246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3">
            <a:extLst>
              <a:ext uri="{FF2B5EF4-FFF2-40B4-BE49-F238E27FC236}">
                <a16:creationId xmlns:a16="http://schemas.microsoft.com/office/drawing/2014/main" id="{661BEA66-89D0-EC53-2CBA-F8640CD31A0E}"/>
              </a:ext>
            </a:extLst>
          </p:cNvPr>
          <p:cNvGrpSpPr/>
          <p:nvPr/>
        </p:nvGrpSpPr>
        <p:grpSpPr>
          <a:xfrm>
            <a:off x="2477248" y="17929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00DBB396-D7C1-476A-A5A3-5212C81D21B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F7A43E5E-B96C-B37A-EE88-8F67E6C1DC3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FAE55419-3864-D7BB-5447-714BD04FC288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BA820DB-0786-27F1-BFF2-187390F6FC5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12E9902-FAA0-7827-DA12-675B1C446BB4}"/>
              </a:ext>
            </a:extLst>
          </p:cNvPr>
          <p:cNvSpPr txBox="1"/>
          <p:nvPr/>
        </p:nvSpPr>
        <p:spPr>
          <a:xfrm>
            <a:off x="2684879" y="253673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FFFF"/>
                </a:solidFill>
                <a:latin typeface="Cambria"/>
              </a:rPr>
              <a:t>CRUD &amp; SQL QUERIES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A83B70-7079-B8E7-0FF1-92D3B9682C3B}"/>
              </a:ext>
            </a:extLst>
          </p:cNvPr>
          <p:cNvSpPr txBox="1"/>
          <p:nvPr/>
        </p:nvSpPr>
        <p:spPr>
          <a:xfrm>
            <a:off x="304800" y="1080295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data from related tables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170BBE-D9B9-2DDE-1B83-FFCE17EDC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941" y="1451984"/>
            <a:ext cx="3083859" cy="2141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DD1021-B5E4-EDB7-0B24-6ADC11DFF6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865" y="1466479"/>
            <a:ext cx="6786053" cy="21414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9117B7-2491-E6AE-AA56-C5702BCD72C6}"/>
              </a:ext>
            </a:extLst>
          </p:cNvPr>
          <p:cNvSpPr txBox="1"/>
          <p:nvPr/>
        </p:nvSpPr>
        <p:spPr>
          <a:xfrm>
            <a:off x="143384" y="3843629"/>
            <a:ext cx="9888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Calculate the total salary paid for each employee designation using </a:t>
            </a:r>
            <a:r>
              <a:rPr lang="en-IN" b="1" dirty="0">
                <a:latin typeface="Courier New" panose="02070309020205020404" pitchFamily="49" charset="0"/>
              </a:rPr>
              <a:t>SUM()</a:t>
            </a:r>
            <a:r>
              <a:rPr lang="en-IN" b="1" dirty="0"/>
              <a:t> and </a:t>
            </a:r>
            <a:r>
              <a:rPr lang="en-IN" b="1" dirty="0">
                <a:latin typeface="Courier New" panose="02070309020205020404" pitchFamily="49" charset="0"/>
              </a:rPr>
              <a:t>GROUP BY</a:t>
            </a:r>
            <a:r>
              <a:rPr lang="en-IN" b="1" dirty="0"/>
              <a:t>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066B880-87D7-6264-4D52-BA909F56B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349" y="4277966"/>
            <a:ext cx="9753651" cy="70110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03E317-B8C6-750B-6473-84B14777A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941" y="5181601"/>
            <a:ext cx="9637059" cy="237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45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C3EB-A702-D17F-4829-E3756993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94372AF-741E-13F0-7A49-5899AAA88E58}"/>
              </a:ext>
            </a:extLst>
          </p:cNvPr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A1EEC003-D96B-9878-B867-CB3E416DA49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444C8BDC-1408-2F08-ECFE-24342F99259F}"/>
              </a:ext>
            </a:extLst>
          </p:cNvPr>
          <p:cNvGrpSpPr/>
          <p:nvPr/>
        </p:nvGrpSpPr>
        <p:grpSpPr>
          <a:xfrm>
            <a:off x="2743200" y="114583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486D7949-B407-1EA2-DD79-8A477F1C214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AF19115A-194D-B4F3-FDC6-80C7A9EAC64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E665D128-267F-2426-96EF-5BA2DC13C64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CBF6A033-32D1-951A-E7A6-E89336F7E40B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3D4540-9EF3-DE22-0F98-4B4BAC3FACC2}"/>
              </a:ext>
            </a:extLst>
          </p:cNvPr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6FBB83-39D1-D67F-AA70-2C1D100D1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87" y="1040290"/>
            <a:ext cx="9570426" cy="16788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478E14-0C99-7FDE-9AD7-DA0675F4AB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87" y="2767350"/>
            <a:ext cx="9539050" cy="14860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CF8437-7B0B-ACCC-F393-0DB09F93A4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09" y="4323975"/>
            <a:ext cx="9532628" cy="146316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2B6EA96-23F6-4795-1750-DC1BE2EA79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986" y="5899181"/>
            <a:ext cx="9539049" cy="156223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A2E1FCF-9482-848C-CD1A-A9DA319F6052}"/>
              </a:ext>
            </a:extLst>
          </p:cNvPr>
          <p:cNvSpPr txBox="1"/>
          <p:nvPr/>
        </p:nvSpPr>
        <p:spPr>
          <a:xfrm>
            <a:off x="2480005" y="2132569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Checking Duplicate IDs — PRIMARY KEY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362270-FCF4-D414-1293-5A6DA24D0EE0}"/>
              </a:ext>
            </a:extLst>
          </p:cNvPr>
          <p:cNvSpPr txBox="1"/>
          <p:nvPr/>
        </p:nvSpPr>
        <p:spPr>
          <a:xfrm>
            <a:off x="2529785" y="3626779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Checking Duplicate Email — UNIQUE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F30503-D817-E095-9F47-374E3410E2B1}"/>
              </a:ext>
            </a:extLst>
          </p:cNvPr>
          <p:cNvSpPr txBox="1"/>
          <p:nvPr/>
        </p:nvSpPr>
        <p:spPr>
          <a:xfrm>
            <a:off x="2528047" y="5218055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Checking Experience — CHECK Constraint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28A839-D64E-0A54-C2F5-34B2A18A05BD}"/>
              </a:ext>
            </a:extLst>
          </p:cNvPr>
          <p:cNvSpPr txBox="1"/>
          <p:nvPr/>
        </p:nvSpPr>
        <p:spPr>
          <a:xfrm>
            <a:off x="2528047" y="666396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Checking Required Name — NOT NULL</a:t>
            </a:r>
          </a:p>
        </p:txBody>
      </p:sp>
    </p:spTree>
    <p:extLst>
      <p:ext uri="{BB962C8B-B14F-4D97-AF65-F5344CB8AC3E}">
        <p14:creationId xmlns:p14="http://schemas.microsoft.com/office/powerpoint/2010/main" val="26077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BB4592-5775-79D7-4F02-0BE4F7025B51}"/>
              </a:ext>
            </a:extLst>
          </p:cNvPr>
          <p:cNvSpPr txBox="1"/>
          <p:nvPr/>
        </p:nvSpPr>
        <p:spPr>
          <a:xfrm>
            <a:off x="700000" y="1350000"/>
            <a:ext cx="8600000" cy="4324241"/>
          </a:xfrm>
          <a:prstGeom prst="rect">
            <a:avLst/>
          </a:prstGeom>
          <a:noFill/>
        </p:spPr>
        <p:txBody>
          <a:bodyPr wrap="square" lIns="120000" tIns="80000" rIns="120000" bIns="80000" anchor="t">
            <a:sp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organizes software work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→ Team/Sprint → Task → Bug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employees assigned to tasks and teams managed using the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Team_Member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junction table.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keys, constraints, sample data, normalization, and SQL queries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data integrity and support reliable project tracking.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audit history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tracking changes.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tracking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employees and tasks.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project monitoring.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tasks and bugs.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progress views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100"/>
              </a:spcAft>
            </a:pPr>
            <a:endParaRPr lang="en-IN" sz="1850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F513CBE2-66AF-A982-0CC5-B24C79BA9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3211</TotalTime>
  <Words>781</Words>
  <Application>Microsoft Office PowerPoint</Application>
  <PresentationFormat>Custom</PresentationFormat>
  <Paragraphs>125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Cambria</vt:lpstr>
      <vt:lpstr>Courier New</vt:lpstr>
      <vt:lpstr>Palatino Linotype</vt:lpstr>
      <vt:lpstr>Times New Roman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7: Software Project Management System — Final Review</dc:title>
  <dc:creator>RESHMA BASAPATHI</dc:creator>
  <cp:lastModifiedBy>sruthi chinta</cp:lastModifiedBy>
  <cp:revision>54</cp:revision>
  <cp:lastPrinted>2025-10-14T18:21:49Z</cp:lastPrinted>
  <dcterms:created xsi:type="dcterms:W3CDTF">2025-10-10T08:28:06Z</dcterms:created>
  <dcterms:modified xsi:type="dcterms:W3CDTF">2026-09-27T09:39:39Z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